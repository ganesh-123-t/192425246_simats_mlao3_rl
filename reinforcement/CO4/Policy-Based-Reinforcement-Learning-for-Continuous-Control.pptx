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7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2l.smola.org/chapter_reinforcement-learning/policy-gradient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773153724000082" TargetMode="External"/><Relationship Id="rId5" Type="http://schemas.openxmlformats.org/officeDocument/2006/relationships/hyperlink" Target="https://www.tj.kyushu-u.ac.jp/evergreen/contents/EG2024-11_2_content/pdf/p887-899.pdf" TargetMode="External"/><Relationship Id="rId4" Type="http://schemas.openxmlformats.org/officeDocument/2006/relationships/hyperlink" Target="https://cs229.stanford.edu/notes2020fall/notes2020fall/cs229-notes1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Institute of Medical and Technical Sciences -SIMATS | Chennai">
            <a:extLst>
              <a:ext uri="{FF2B5EF4-FFF2-40B4-BE49-F238E27FC236}">
                <a16:creationId xmlns:a16="http://schemas.microsoft.com/office/drawing/2014/main" id="{45909F89-D057-8C66-1074-F4524068C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91" y="217813"/>
            <a:ext cx="2443016" cy="1295301"/>
          </a:xfrm>
          <a:prstGeom prst="rect">
            <a:avLst/>
          </a:prstGeom>
        </p:spPr>
      </p:pic>
      <p:pic>
        <p:nvPicPr>
          <p:cNvPr id="3" name="Picture 2" descr="Saveetha School of Engineering Employees, Location, Alumni | LinkedIn">
            <a:extLst>
              <a:ext uri="{FF2B5EF4-FFF2-40B4-BE49-F238E27FC236}">
                <a16:creationId xmlns:a16="http://schemas.microsoft.com/office/drawing/2014/main" id="{1C985307-EAB4-5560-0D42-0CCD1338B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3" y="0"/>
            <a:ext cx="6693160" cy="2369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12CF32-DE00-F75E-13B8-98875E2023D6}"/>
              </a:ext>
            </a:extLst>
          </p:cNvPr>
          <p:cNvSpPr txBox="1"/>
          <p:nvPr/>
        </p:nvSpPr>
        <p:spPr>
          <a:xfrm>
            <a:off x="2015412" y="2809054"/>
            <a:ext cx="7634773" cy="1239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Policy-Based Reinforcement Learning for Continuous Control</a:t>
            </a:r>
            <a:endParaRPr lang="en-US" sz="3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611B2-6FD4-50BF-0410-229EDD886F6B}"/>
              </a:ext>
            </a:extLst>
          </p:cNvPr>
          <p:cNvSpPr txBox="1"/>
          <p:nvPr/>
        </p:nvSpPr>
        <p:spPr>
          <a:xfrm>
            <a:off x="1222311" y="5169159"/>
            <a:ext cx="20381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Gudied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SENTHIL G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DCCD4-2E66-DF88-2125-C4F5AD5A1333}"/>
              </a:ext>
            </a:extLst>
          </p:cNvPr>
          <p:cNvSpPr txBox="1"/>
          <p:nvPr/>
        </p:nvSpPr>
        <p:spPr>
          <a:xfrm>
            <a:off x="9302621" y="5187820"/>
            <a:ext cx="2480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T.Ganesh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(192425246)</a:t>
            </a:r>
          </a:p>
        </p:txBody>
      </p:sp>
    </p:spTree>
    <p:extLst>
      <p:ext uri="{BB962C8B-B14F-4D97-AF65-F5344CB8AC3E}">
        <p14:creationId xmlns:p14="http://schemas.microsoft.com/office/powerpoint/2010/main" val="397112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Policy-Based Reinforcement Learning for Continuous Control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vanilla policy gradients to real-world robotics — a student's guide to directly optimizing decision-making policies.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9573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Policy Gradients Matter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384300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Distinction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1767979"/>
            <a:ext cx="2953867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Value-based methods (Q-learning, DQN) learn a Q-function and derive a policy indirectly. Policy-based methods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directly parameterize and optimize π_θ(a|s)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mapping from states to actions — maximizing expected return J(θ) end-to-end.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3565327"/>
            <a:ext cx="2953867" cy="1027113"/>
          </a:xfrm>
          <a:prstGeom prst="roundRect">
            <a:avLst>
              <a:gd name="adj" fmla="val 6522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15" y="3771503"/>
            <a:ext cx="199325" cy="159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9681" y="3726160"/>
            <a:ext cx="227622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discretization required — actions live in continuous space by design.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10818" y="1384300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Matters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0818" y="1784747"/>
            <a:ext cx="2953867" cy="14461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65506" y="1963241"/>
            <a:ext cx="252068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Action Spaces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265506" y="2346920"/>
            <a:ext cx="2520689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Robotics and driving demand fine-grained, real-valued actions — not discrete bins.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0818" y="3365401"/>
            <a:ext cx="2953867" cy="14461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65506" y="3543895"/>
            <a:ext cx="252068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 Optimization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4265506" y="3927574"/>
            <a:ext cx="2520689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ascent on the policy objective without a value-function detour.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0818" y="4946055"/>
            <a:ext cx="2953867" cy="12109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65506" y="5124549"/>
            <a:ext cx="252068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Stochastic Policies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265506" y="5508228"/>
            <a:ext cx="252068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exploration — sample actions from a learned distribution.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20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Idea: Trial and Error Formalized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467941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667706"/>
            <a:ext cx="1902017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 Trajectories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667706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Observe Rewards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4730029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Increase Probabilities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4730029"/>
            <a:ext cx="1902017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Decrease Probabilities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747246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its heart, policy gradient learning formalizes natural trial-and-error: the agent acts, observes outcomes, and nudges its policy to favor what worked — repeated until convergence.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317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REINFORCE Algorithm Explained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84821"/>
            <a:ext cx="57767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48173"/>
            <a:ext cx="638635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 expected cumulative (discounted) reward: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561034"/>
            <a:ext cx="5776768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1034"/>
            <a:ext cx="5776768" cy="7477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533180"/>
            <a:ext cx="57767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Gradient Update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1475" y="4043660"/>
            <a:ext cx="6386353" cy="311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043660"/>
            <a:ext cx="5776768" cy="3117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4579838"/>
            <a:ext cx="577676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G_t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return from time step t. No value functions or Q-functions needed — only trajectory samples and reward queries.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59406" y="1407517"/>
            <a:ext cx="4908923" cy="4881166"/>
          </a:xfrm>
          <a:prstGeom prst="roundRect">
            <a:avLst>
              <a:gd name="adj" fmla="val 270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942460" y="1584821"/>
            <a:ext cx="454281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Key Properties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011118" y="2104727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7531705" y="2133302"/>
            <a:ext cx="395357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Model-Free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31705" y="2596654"/>
            <a:ext cx="395357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environment model required — learn from experience alone.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011118" y="3562548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50" dirty="0"/>
          </a:p>
        </p:txBody>
      </p:sp>
      <p:sp>
        <p:nvSpPr>
          <p:cNvPr id="17" name="Text 13"/>
          <p:cNvSpPr/>
          <p:nvPr/>
        </p:nvSpPr>
        <p:spPr>
          <a:xfrm>
            <a:off x="7531705" y="3591123"/>
            <a:ext cx="395357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On-Policy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531705" y="4054475"/>
            <a:ext cx="395357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Must sample trajectories from the policy currently being optimized.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011118" y="5020370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50" dirty="0"/>
          </a:p>
        </p:txBody>
      </p:sp>
      <p:sp>
        <p:nvSpPr>
          <p:cNvPr id="20" name="Text 16"/>
          <p:cNvSpPr/>
          <p:nvPr/>
        </p:nvSpPr>
        <p:spPr>
          <a:xfrm>
            <a:off x="7531705" y="5048945"/>
            <a:ext cx="395357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Unbiased but High-Variance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531705" y="5512296"/>
            <a:ext cx="395357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in expectation, but noisy — motivates modern improvements.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45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Vanilla Policy Gradient vs. Advanced Methods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53258"/>
            <a:ext cx="10868745" cy="2502595"/>
          </a:xfrm>
          <a:prstGeom prst="roundRect">
            <a:avLst>
              <a:gd name="adj" fmla="val 31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259608"/>
            <a:ext cx="3618616" cy="2489895"/>
          </a:xfrm>
          <a:custGeom>
            <a:avLst/>
            <a:gdLst/>
            <a:ahLst/>
            <a:cxnLst/>
            <a:rect l="l" t="t" r="r" b="b"/>
            <a:pathLst>
              <a:path w="3618616" h="2489895">
                <a:moveTo>
                  <a:pt x="66156" y="0"/>
                </a:moveTo>
                <a:lnTo>
                  <a:pt x="3618616" y="0"/>
                </a:lnTo>
                <a:lnTo>
                  <a:pt x="3618616" y="2489895"/>
                </a:lnTo>
                <a:lnTo>
                  <a:pt x="66156" y="2489895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448620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REINFORCE (Vanilla PG)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857302"/>
            <a:ext cx="3240602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to implement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variance updates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to converge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baseline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259608"/>
            <a:ext cx="3618715" cy="2489895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2259608"/>
            <a:ext cx="25399" cy="248989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2448620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Actor-Critic (A2C / A3C)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2857302"/>
            <a:ext cx="3240701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a value-function baseline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reduces variance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networks trained jointly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Faster, more stable learning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259608"/>
            <a:ext cx="3618715" cy="2489895"/>
          </a:xfrm>
          <a:custGeom>
            <a:avLst/>
            <a:gdLst/>
            <a:ahLst/>
            <a:cxnLst/>
            <a:rect l="l" t="t" r="r" b="b"/>
            <a:pathLst>
              <a:path w="3618715" h="2489895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2423736"/>
                </a:lnTo>
                <a:arcTo wR="66156" hR="66158" stAng="0" swAng="5400000"/>
                <a:lnTo>
                  <a:pt x="0" y="2489895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2259608"/>
            <a:ext cx="25399" cy="248989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3" name="Text 11"/>
          <p:cNvSpPr/>
          <p:nvPr/>
        </p:nvSpPr>
        <p:spPr>
          <a:xfrm>
            <a:off x="8094162" y="2448620"/>
            <a:ext cx="324070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PPO (Proximal Policy Optimization)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3152577"/>
            <a:ext cx="3240701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Clips gradient step size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destructive large updates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State-of-the-art stability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&amp; research standard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96847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generation adds one key ingredient: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REINFORCE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sets the foundation,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Actor-Critic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tames variance,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PPO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adds training stability — the evolution reflects the field's growing demand for reliability.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28948"/>
            <a:ext cx="4716642" cy="4716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1364" y="2568674"/>
            <a:ext cx="5835206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Stochastic Policy Search in Action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701364" y="3063974"/>
            <a:ext cx="5835206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outputting a single action, a stochastic policy outputs a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probability distribution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typically a Gaussian for continuous control — and samples from it at every step.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190" y="5550694"/>
            <a:ext cx="194861" cy="1948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3640" y="5546725"/>
            <a:ext cx="31263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Natural Exploration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083640" y="5803305"/>
            <a:ext cx="312630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ε-greedy heuristic needed — randomness is baked into the policy itself.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0278" y="5550694"/>
            <a:ext cx="194861" cy="1948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43728" y="5546725"/>
            <a:ext cx="31263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Differentiable Sampling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743728" y="5803305"/>
            <a:ext cx="312630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log-probability trick makes the sampling process differentiable for gradient computation.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0366" y="5550694"/>
            <a:ext cx="194861" cy="1948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03816" y="5546725"/>
            <a:ext cx="31263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Concrete Example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8403816" y="5803305"/>
            <a:ext cx="3126305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robot arm learns to reach a target by sampling different joint angle combinations and reinforcing trajectories that succeed.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913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Applications: Robotics &amp; Autonomous Driving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58455"/>
            <a:ext cx="2339123" cy="14457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24041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Robotics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649093"/>
            <a:ext cx="53162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 joint control, grasping, and locomotion.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PPO trained directly on real model vehicles converges in ~200 episodes and tolerates real-world uncertainty and sensor noise — bridging the sim-to-real gap.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558455"/>
            <a:ext cx="2339123" cy="14457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424041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Autonomous Driving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4649093"/>
            <a:ext cx="5316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Lane changes, merging, and collision avoidance.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Deep RL methods capture interactive dynamics critical for safe and efficient highway merging, handling complex real-world traffic scenarios beyond rule-based planners.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 for Students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77566"/>
            <a:ext cx="5348551" cy="1873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7654" y="1612702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6952" y="219809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 Policy Optimization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952" y="2582565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 gradients bypass value functions and optimize the decision-making policy end-to-end.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670" y="1477566"/>
            <a:ext cx="5348551" cy="1873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7849" y="1612702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387146" y="219809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REINFORCE is the Foundation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87146" y="2582565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High-variance but conceptually pure — modern methods (Actor-Critic, PPO) add variance reduction on top.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22663"/>
            <a:ext cx="5348551" cy="1873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7654" y="3657798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4243189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Stochastic = Natural Exploration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4627662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 distributions over actions enable seamless exploration in continuous spaces.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670" y="3522663"/>
            <a:ext cx="5348551" cy="1873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7849" y="3657798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387146" y="4243189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in the Real World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87146" y="4627662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Robotics and autonomous systems are active, high-impact application domains — and the research frontier.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589290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E1E1E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52" y="583237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46752" y="5805884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Policy-based RL is not just theory — it powers real robots and vehicles today. Master REINFORCE, then build up to PPO.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6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09330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14.5 Policy Gradient – Dive into Deep Learning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Policy Gradient (REINFORCE) — Stanford CS229 Notes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Real-World Autonomous Driving Control: An Empirical Study Using the Proximal Policy Optimization (PPO) Algorithm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Review on Reinforcement Learning-Based Highway Autonomous Driving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701</Words>
  <Application>Microsoft Office PowerPoint</Application>
  <PresentationFormat>Widescreen</PresentationFormat>
  <Paragraphs>97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Bold</vt:lpstr>
      <vt:lpstr>Times New Roman</vt:lpstr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Tarigonda Ganesh</cp:lastModifiedBy>
  <cp:revision>2</cp:revision>
  <dcterms:created xsi:type="dcterms:W3CDTF">2026-08-22T09:04:43Z</dcterms:created>
  <dcterms:modified xsi:type="dcterms:W3CDTF">2026-08-22T09:10:11Z</dcterms:modified>
</cp:coreProperties>
</file>